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D09664-E792-CFAB-5CFB-C9B9FA3324D0}" v="863" dt="2024-08-07T13:43:39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020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11438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5604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026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242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8390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681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5754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7208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08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815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095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C61CA52-9D8F-3468-BD14-87E918777EA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18138" y="63500"/>
            <a:ext cx="140176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Documento: YPF-Privado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2C10506-E802-A132-27A2-AB090314929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18138" y="9690100"/>
            <a:ext cx="140176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Documento: YPF-Privado</a:t>
            </a:r>
          </a:p>
        </p:txBody>
      </p:sp>
    </p:spTree>
    <p:extLst>
      <p:ext uri="{BB962C8B-B14F-4D97-AF65-F5344CB8AC3E}">
        <p14:creationId xmlns:p14="http://schemas.microsoft.com/office/powerpoint/2010/main" val="299449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 descr="Un hombre parado en una roca junto al agua&#10;&#10;Descripción generada automáticamente">
            <a:extLst>
              <a:ext uri="{FF2B5EF4-FFF2-40B4-BE49-F238E27FC236}">
                <a16:creationId xmlns:a16="http://schemas.microsoft.com/office/drawing/2014/main" id="{F22A3D64-FE50-4ED7-B970-4B71D05003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7" t="32541" r="16262" b="28710"/>
          <a:stretch/>
        </p:blipFill>
        <p:spPr>
          <a:xfrm>
            <a:off x="2406520" y="152"/>
            <a:ext cx="4451480" cy="1765401"/>
          </a:xfrm>
          <a:prstGeom prst="rect">
            <a:avLst/>
          </a:prstGeom>
        </p:spPr>
      </p:pic>
      <p:sp>
        <p:nvSpPr>
          <p:cNvPr id="60" name="Rectangle 5">
            <a:extLst>
              <a:ext uri="{FF2B5EF4-FFF2-40B4-BE49-F238E27FC236}">
                <a16:creationId xmlns:a16="http://schemas.microsoft.com/office/drawing/2014/main" id="{8785A559-56C3-4C33-927D-DB1D4C719D54}"/>
              </a:ext>
            </a:extLst>
          </p:cNvPr>
          <p:cNvSpPr/>
          <p:nvPr/>
        </p:nvSpPr>
        <p:spPr>
          <a:xfrm>
            <a:off x="0" y="-6249"/>
            <a:ext cx="6858000" cy="1770961"/>
          </a:xfrm>
          <a:prstGeom prst="rect">
            <a:avLst/>
          </a:prstGeom>
          <a:solidFill>
            <a:schemeClr val="tx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áfico 12" descr="Gráfico 12">
            <a:extLst>
              <a:ext uri="{FF2B5EF4-FFF2-40B4-BE49-F238E27FC236}">
                <a16:creationId xmlns:a16="http://schemas.microsoft.com/office/drawing/2014/main" id="{C64C0958-7BA5-42E8-BC2A-385B6C6BDC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118"/>
          <a:stretch/>
        </p:blipFill>
        <p:spPr>
          <a:xfrm>
            <a:off x="1335878" y="-1809"/>
            <a:ext cx="2671729" cy="177165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Rectángulo 34">
            <a:extLst>
              <a:ext uri="{FF2B5EF4-FFF2-40B4-BE49-F238E27FC236}">
                <a16:creationId xmlns:a16="http://schemas.microsoft.com/office/drawing/2014/main" id="{4C844FCF-6543-4A0C-98D6-49C192B938AB}"/>
              </a:ext>
            </a:extLst>
          </p:cNvPr>
          <p:cNvSpPr/>
          <p:nvPr/>
        </p:nvSpPr>
        <p:spPr>
          <a:xfrm>
            <a:off x="0" y="0"/>
            <a:ext cx="2406520" cy="9896043"/>
          </a:xfrm>
          <a:prstGeom prst="rect">
            <a:avLst/>
          </a:prstGeom>
          <a:solidFill>
            <a:schemeClr val="accent1">
              <a:lumMod val="40000"/>
              <a:lumOff val="6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Título 2">
            <a:extLst>
              <a:ext uri="{FF2B5EF4-FFF2-40B4-BE49-F238E27FC236}">
                <a16:creationId xmlns:a16="http://schemas.microsoft.com/office/drawing/2014/main" id="{89E64390-4F04-47E6-9A34-FB1213DE195A}"/>
              </a:ext>
            </a:extLst>
          </p:cNvPr>
          <p:cNvSpPr txBox="1">
            <a:spLocks/>
          </p:cNvSpPr>
          <p:nvPr/>
        </p:nvSpPr>
        <p:spPr>
          <a:xfrm>
            <a:off x="2389805" y="851695"/>
            <a:ext cx="2953680" cy="4347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Juan Pablo Carrizo</a:t>
            </a:r>
          </a:p>
        </p:txBody>
      </p:sp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7B0907FE-3B99-4A75-9D75-EE93FC5426E2}"/>
              </a:ext>
            </a:extLst>
          </p:cNvPr>
          <p:cNvSpPr txBox="1">
            <a:spLocks/>
          </p:cNvSpPr>
          <p:nvPr/>
        </p:nvSpPr>
        <p:spPr>
          <a:xfrm>
            <a:off x="2400199" y="1206098"/>
            <a:ext cx="3617015" cy="364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chemeClr val="bg1"/>
                </a:solidFill>
                <a:latin typeface="Arial"/>
                <a:cs typeface="Arial"/>
              </a:rPr>
              <a:t>AI Engineer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100" dirty="0">
                <a:solidFill>
                  <a:schemeClr val="bg1"/>
                </a:solidFill>
                <a:latin typeface="Arial"/>
                <a:cs typeface="Arial"/>
              </a:rPr>
              <a:t>Digital Technology - Data &amp; Analytics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ráfico 19" descr="Gráfico 19">
            <a:extLst>
              <a:ext uri="{FF2B5EF4-FFF2-40B4-BE49-F238E27FC236}">
                <a16:creationId xmlns:a16="http://schemas.microsoft.com/office/drawing/2014/main" id="{932E8361-C724-483D-9093-9F6AC11FD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335878" y="1571617"/>
            <a:ext cx="5522122" cy="45719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5A40AED9-C040-4B95-9DB3-1812E98A6723}"/>
              </a:ext>
            </a:extLst>
          </p:cNvPr>
          <p:cNvSpPr txBox="1"/>
          <p:nvPr/>
        </p:nvSpPr>
        <p:spPr>
          <a:xfrm>
            <a:off x="0" y="8177885"/>
            <a:ext cx="17983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1100" dirty="0"/>
              <a:t>C O M P E T E N C I A S </a:t>
            </a:r>
            <a:endParaRPr lang="es-AR" sz="11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FD70A66-5536-427E-9662-DF76F5D10B6B}"/>
              </a:ext>
            </a:extLst>
          </p:cNvPr>
          <p:cNvSpPr txBox="1"/>
          <p:nvPr/>
        </p:nvSpPr>
        <p:spPr>
          <a:xfrm>
            <a:off x="253795" y="2387174"/>
            <a:ext cx="19999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AR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B26E850-8978-410F-AB72-91A1E30C8B1C}"/>
              </a:ext>
            </a:extLst>
          </p:cNvPr>
          <p:cNvSpPr txBox="1"/>
          <p:nvPr/>
        </p:nvSpPr>
        <p:spPr>
          <a:xfrm>
            <a:off x="197045" y="2138352"/>
            <a:ext cx="1798313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1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>
                <a:latin typeface="+mn-lt"/>
              </a:rPr>
              <a:t>E D U C A C I O N</a:t>
            </a:r>
            <a:endParaRPr lang="en-US" dirty="0">
              <a:latin typeface="+mn-lt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95726C8-F805-4935-ADF0-99154FDE9650}"/>
              </a:ext>
            </a:extLst>
          </p:cNvPr>
          <p:cNvSpPr txBox="1"/>
          <p:nvPr/>
        </p:nvSpPr>
        <p:spPr>
          <a:xfrm>
            <a:off x="181761" y="2414452"/>
            <a:ext cx="2072008" cy="5770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1050" b="1" dirty="0">
                <a:ea typeface="Calibri"/>
                <a:cs typeface="Arial"/>
              </a:rPr>
              <a:t>UADE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s-AR" sz="1050" dirty="0">
                <a:cs typeface="Arial"/>
              </a:rPr>
              <a:t>Carrera: Ing. Electromecánica </a:t>
            </a:r>
            <a:br>
              <a:rPr lang="es-AR" sz="1050" dirty="0">
                <a:cs typeface="Arial"/>
              </a:rPr>
            </a:br>
            <a:r>
              <a:rPr lang="es-AR" sz="1050" dirty="0">
                <a:cs typeface="Arial"/>
              </a:rPr>
              <a:t>(MAR/2021 - Actualidad) </a:t>
            </a:r>
            <a:endParaRPr lang="es-AR" sz="1050" b="1" dirty="0">
              <a:cs typeface="Arial" panose="020B060402020202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ED576D0-7D10-4A00-BB2E-1C55A6F25BBA}"/>
              </a:ext>
            </a:extLst>
          </p:cNvPr>
          <p:cNvSpPr txBox="1"/>
          <p:nvPr/>
        </p:nvSpPr>
        <p:spPr>
          <a:xfrm>
            <a:off x="135160" y="3043090"/>
            <a:ext cx="1816479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1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 sz="1000" b="1"/>
            </a:pPr>
            <a:r>
              <a:rPr dirty="0">
                <a:latin typeface="+mn-lt"/>
              </a:rPr>
              <a:t>C E R T I F I C A D O S</a:t>
            </a:r>
            <a:endParaRPr lang="en-US" dirty="0">
              <a:latin typeface="+mn-lt"/>
            </a:endParaRPr>
          </a:p>
          <a:p>
            <a:pPr>
              <a:defRPr sz="900"/>
            </a:pPr>
            <a:r>
              <a:rPr dirty="0">
                <a:solidFill>
                  <a:schemeClr val="tx1"/>
                </a:solidFill>
                <a:latin typeface="+mn-lt"/>
              </a:rPr>
              <a:t>Data &amp; Analytics en </a:t>
            </a:r>
            <a:r>
              <a:rPr dirty="0" err="1">
                <a:solidFill>
                  <a:schemeClr val="tx1"/>
                </a:solidFill>
                <a:latin typeface="+mn-lt"/>
              </a:rPr>
              <a:t>plataformas</a:t>
            </a:r>
            <a:r>
              <a:rPr dirty="0">
                <a:solidFill>
                  <a:schemeClr val="tx1"/>
                </a:solidFill>
                <a:latin typeface="+mn-lt"/>
              </a:rPr>
              <a:t> cloud (NOV 2023)</a:t>
            </a:r>
          </a:p>
          <a:p>
            <a:pPr>
              <a:defRPr sz="900"/>
            </a:pPr>
            <a:r>
              <a:rPr dirty="0">
                <a:solidFill>
                  <a:schemeClr val="tx1"/>
                </a:solidFill>
                <a:latin typeface="+mn-lt"/>
              </a:rPr>
              <a:t>Databricks Generative AI Fundamentals (FEB 2024)</a:t>
            </a:r>
          </a:p>
          <a:p>
            <a:pPr>
              <a:defRPr sz="900"/>
            </a:pPr>
            <a:r>
              <a:rPr dirty="0">
                <a:solidFill>
                  <a:schemeClr val="tx1"/>
                </a:solidFill>
                <a:latin typeface="+mn-lt"/>
              </a:rPr>
              <a:t>IA </a:t>
            </a:r>
            <a:r>
              <a:rPr dirty="0" err="1">
                <a:solidFill>
                  <a:schemeClr val="tx1"/>
                </a:solidFill>
                <a:latin typeface="+mn-lt"/>
              </a:rPr>
              <a:t>Generativa</a:t>
            </a:r>
            <a:r>
              <a:rPr dirty="0">
                <a:solidFill>
                  <a:schemeClr val="tx1"/>
                </a:solidFill>
                <a:latin typeface="+mn-lt"/>
              </a:rPr>
              <a:t> - </a:t>
            </a:r>
            <a:r>
              <a:rPr dirty="0" err="1">
                <a:solidFill>
                  <a:schemeClr val="tx1"/>
                </a:solidFill>
                <a:latin typeface="+mn-lt"/>
              </a:rPr>
              <a:t>Curso</a:t>
            </a:r>
            <a:r>
              <a:rPr dirty="0">
                <a:solidFill>
                  <a:schemeClr val="tx1"/>
                </a:solidFill>
                <a:latin typeface="+mn-lt"/>
              </a:rPr>
              <a:t> </a:t>
            </a:r>
            <a:r>
              <a:rPr dirty="0" err="1">
                <a:solidFill>
                  <a:schemeClr val="tx1"/>
                </a:solidFill>
                <a:latin typeface="+mn-lt"/>
              </a:rPr>
              <a:t>Interno</a:t>
            </a:r>
            <a:r>
              <a:rPr dirty="0">
                <a:solidFill>
                  <a:schemeClr val="tx1"/>
                </a:solidFill>
                <a:latin typeface="+mn-lt"/>
              </a:rPr>
              <a:t> NTT Data (ENE 2024)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3173B23-023F-40B2-A120-8D492D22F341}"/>
              </a:ext>
            </a:extLst>
          </p:cNvPr>
          <p:cNvSpPr txBox="1"/>
          <p:nvPr/>
        </p:nvSpPr>
        <p:spPr>
          <a:xfrm>
            <a:off x="9060" y="8238555"/>
            <a:ext cx="2285621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Calibri"/>
              <a:buChar char="-"/>
            </a:pPr>
            <a:endParaRPr lang="en-US" sz="1200" dirty="0"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Desarrollo de </a:t>
            </a:r>
            <a:r>
              <a:rPr dirty="0" err="1"/>
              <a:t>sistemas</a:t>
            </a:r>
            <a:r>
              <a:rPr dirty="0"/>
              <a:t> de IA </a:t>
            </a:r>
            <a:r>
              <a:rPr dirty="0" err="1"/>
              <a:t>Generativa</a:t>
            </a:r>
            <a:r>
              <a:rPr dirty="0"/>
              <a:t> y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conversacionales</a:t>
            </a: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Computer Vision y </a:t>
            </a:r>
            <a:r>
              <a:rPr dirty="0" err="1"/>
              <a:t>procesamiento</a:t>
            </a:r>
            <a:r>
              <a:rPr dirty="0"/>
              <a:t> de </a:t>
            </a:r>
            <a:r>
              <a:rPr dirty="0" err="1"/>
              <a:t>im</a:t>
            </a:r>
            <a:r>
              <a:rPr lang="es-MX" dirty="0"/>
              <a:t>á</a:t>
            </a:r>
            <a:r>
              <a:rPr dirty="0"/>
              <a:t>genes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r>
              <a:rPr dirty="0" err="1"/>
              <a:t>Arquitectura</a:t>
            </a:r>
            <a:r>
              <a:rPr dirty="0"/>
              <a:t> de </a:t>
            </a:r>
            <a:r>
              <a:rPr dirty="0" err="1"/>
              <a:t>sistemas</a:t>
            </a:r>
            <a:r>
              <a:rPr dirty="0"/>
              <a:t> serverless en Azure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r>
              <a:rPr dirty="0" err="1"/>
              <a:t>Diseno</a:t>
            </a:r>
            <a:r>
              <a:rPr dirty="0"/>
              <a:t> de pipelines de </a:t>
            </a:r>
            <a:r>
              <a:rPr dirty="0" err="1"/>
              <a:t>datos</a:t>
            </a:r>
            <a:r>
              <a:rPr dirty="0"/>
              <a:t> y ETL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r>
              <a:rPr dirty="0" err="1"/>
              <a:t>Trabajo</a:t>
            </a:r>
            <a:r>
              <a:rPr dirty="0"/>
              <a:t> en </a:t>
            </a:r>
            <a:r>
              <a:rPr dirty="0" err="1"/>
              <a:t>equipo</a:t>
            </a:r>
            <a:r>
              <a:rPr dirty="0"/>
              <a:t> y </a:t>
            </a:r>
            <a:r>
              <a:rPr dirty="0" err="1"/>
              <a:t>metodolog</a:t>
            </a:r>
            <a:r>
              <a:rPr lang="es-MX" dirty="0"/>
              <a:t>í</a:t>
            </a:r>
            <a:r>
              <a:rPr dirty="0"/>
              <a:t>as Agile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r>
              <a:rPr dirty="0" err="1"/>
              <a:t>Agilidad</a:t>
            </a:r>
            <a:r>
              <a:rPr dirty="0"/>
              <a:t> de </a:t>
            </a:r>
            <a:r>
              <a:rPr dirty="0" err="1"/>
              <a:t>aprendizaje</a:t>
            </a: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r>
              <a:rPr dirty="0" err="1"/>
              <a:t>Administraci</a:t>
            </a:r>
            <a:r>
              <a:rPr lang="es-MX" dirty="0" err="1"/>
              <a:t>ó</a:t>
            </a:r>
            <a:r>
              <a:rPr dirty="0"/>
              <a:t>n del </a:t>
            </a:r>
            <a:r>
              <a:rPr dirty="0" err="1"/>
              <a:t>tiempo</a:t>
            </a: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r>
              <a:rPr dirty="0" err="1"/>
              <a:t>Comunicaci</a:t>
            </a:r>
            <a:r>
              <a:rPr lang="es-MX" dirty="0" err="1"/>
              <a:t>ó</a:t>
            </a:r>
            <a:r>
              <a:rPr dirty="0"/>
              <a:t>n </a:t>
            </a:r>
            <a:r>
              <a:rPr dirty="0" err="1"/>
              <a:t>asertiva</a:t>
            </a: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Pensamiento an</a:t>
            </a:r>
            <a:r>
              <a:rPr lang="es-MX" dirty="0"/>
              <a:t>á</a:t>
            </a:r>
            <a:r>
              <a:rPr dirty="0" err="1"/>
              <a:t>litico</a:t>
            </a:r>
            <a:endParaRPr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C202D9C-1EB8-4407-83A7-1B238BD8CBE2}"/>
              </a:ext>
            </a:extLst>
          </p:cNvPr>
          <p:cNvSpPr txBox="1"/>
          <p:nvPr/>
        </p:nvSpPr>
        <p:spPr>
          <a:xfrm>
            <a:off x="2543642" y="2128444"/>
            <a:ext cx="4377857" cy="8156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 sz="1100" b="1"/>
            </a:pPr>
            <a:r>
              <a:rPr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P E R F I L   P E R S O N A L</a:t>
            </a:r>
          </a:p>
          <a:p>
            <a:pPr>
              <a:spcAft>
                <a:spcPts val="600"/>
              </a:spcAft>
              <a:defRPr sz="900"/>
            </a:pPr>
            <a:r>
              <a:rPr dirty="0"/>
              <a:t>Engineer </a:t>
            </a:r>
            <a:r>
              <a:rPr dirty="0" err="1"/>
              <a:t>especializado</a:t>
            </a:r>
            <a:r>
              <a:rPr dirty="0"/>
              <a:t> en </a:t>
            </a:r>
            <a:r>
              <a:rPr dirty="0" err="1"/>
              <a:t>Inteligencia</a:t>
            </a:r>
            <a:r>
              <a:rPr dirty="0"/>
              <a:t> Artificial y Computer Vision con </a:t>
            </a:r>
            <a:r>
              <a:rPr dirty="0" err="1"/>
              <a:t>experiencia</a:t>
            </a:r>
            <a:r>
              <a:rPr dirty="0"/>
              <a:t> en </a:t>
            </a:r>
            <a:r>
              <a:rPr dirty="0" err="1"/>
              <a:t>desarrollo</a:t>
            </a:r>
            <a:r>
              <a:rPr dirty="0"/>
              <a:t> de </a:t>
            </a:r>
            <a:r>
              <a:rPr dirty="0" err="1"/>
              <a:t>sistemas</a:t>
            </a:r>
            <a:r>
              <a:rPr dirty="0"/>
              <a:t> de IA </a:t>
            </a:r>
            <a:r>
              <a:rPr dirty="0" err="1"/>
              <a:t>Generativa</a:t>
            </a:r>
            <a:r>
              <a:rPr dirty="0"/>
              <a:t>, </a:t>
            </a:r>
            <a:r>
              <a:rPr dirty="0" err="1"/>
              <a:t>procesamiento</a:t>
            </a:r>
            <a:r>
              <a:rPr dirty="0"/>
              <a:t> de </a:t>
            </a:r>
            <a:r>
              <a:rPr dirty="0" err="1"/>
              <a:t>documentos</a:t>
            </a:r>
            <a:r>
              <a:rPr dirty="0"/>
              <a:t>,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conversacionales</a:t>
            </a:r>
            <a:r>
              <a:rPr dirty="0"/>
              <a:t> y pipelines de </a:t>
            </a:r>
            <a:r>
              <a:rPr dirty="0" err="1"/>
              <a:t>datos</a:t>
            </a:r>
            <a:r>
              <a:rPr dirty="0"/>
              <a:t> en Azure. </a:t>
            </a:r>
            <a:r>
              <a:rPr dirty="0" err="1"/>
              <a:t>Solidas</a:t>
            </a:r>
            <a:r>
              <a:rPr dirty="0"/>
              <a:t> </a:t>
            </a:r>
            <a:r>
              <a:rPr dirty="0" err="1"/>
              <a:t>habilidades</a:t>
            </a:r>
            <a:r>
              <a:rPr dirty="0"/>
              <a:t> en Python, </a:t>
            </a:r>
            <a:r>
              <a:rPr dirty="0" err="1"/>
              <a:t>LangChain</a:t>
            </a:r>
            <a:r>
              <a:rPr dirty="0"/>
              <a:t>, Azure OpenAI y </a:t>
            </a:r>
            <a:r>
              <a:rPr dirty="0" err="1"/>
              <a:t>arquitecturas</a:t>
            </a:r>
            <a:r>
              <a:rPr dirty="0"/>
              <a:t> serverless.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83E2FA3-529E-44EB-8817-4F7520959E5A}"/>
              </a:ext>
            </a:extLst>
          </p:cNvPr>
          <p:cNvSpPr txBox="1"/>
          <p:nvPr/>
        </p:nvSpPr>
        <p:spPr>
          <a:xfrm>
            <a:off x="2566431" y="3067870"/>
            <a:ext cx="3316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E X P E R I E N C I A   L A B O R A L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207A805-FCD4-4735-B779-0E1B1FA19A8D}"/>
              </a:ext>
            </a:extLst>
          </p:cNvPr>
          <p:cNvSpPr txBox="1"/>
          <p:nvPr/>
        </p:nvSpPr>
        <p:spPr>
          <a:xfrm>
            <a:off x="2533565" y="3453299"/>
            <a:ext cx="4387933" cy="5575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1000" b="1" dirty="0"/>
              <a:t>NTT Data, Rol </a:t>
            </a:r>
            <a:r>
              <a:rPr lang="es-MX" sz="1000" b="1" dirty="0"/>
              <a:t>AI </a:t>
            </a:r>
            <a:r>
              <a:rPr sz="1000" b="1" dirty="0"/>
              <a:t>Engineer</a:t>
            </a:r>
          </a:p>
          <a:p>
            <a:pPr>
              <a:spcAft>
                <a:spcPts val="800"/>
              </a:spcAft>
              <a:defRPr sz="900"/>
            </a:pPr>
            <a:r>
              <a:rPr dirty="0"/>
              <a:t>NOV/2023 - </a:t>
            </a:r>
            <a:r>
              <a:rPr dirty="0" err="1"/>
              <a:t>Actualidad</a:t>
            </a:r>
            <a:endParaRPr dirty="0"/>
          </a:p>
          <a:p>
            <a:pPr>
              <a:spcAft>
                <a:spcPts val="1000"/>
              </a:spcAft>
            </a:pPr>
            <a:r>
              <a:rPr sz="900" i="1" dirty="0" err="1"/>
              <a:t>Cliente</a:t>
            </a:r>
            <a:r>
              <a:rPr sz="900" i="1" dirty="0"/>
              <a:t>: YPF - Area de </a:t>
            </a:r>
            <a:r>
              <a:rPr sz="900" i="1" dirty="0" err="1"/>
              <a:t>Inteligencia</a:t>
            </a:r>
            <a:r>
              <a:rPr sz="900" i="1" dirty="0"/>
              <a:t> Artificial</a:t>
            </a:r>
          </a:p>
          <a:p>
            <a:r>
              <a:rPr sz="900" b="1" dirty="0"/>
              <a:t>Sistema de IA </a:t>
            </a:r>
            <a:r>
              <a:rPr sz="900" b="1" dirty="0" err="1"/>
              <a:t>Conversacional</a:t>
            </a:r>
            <a:r>
              <a:rPr sz="900" b="1" dirty="0"/>
              <a:t> (</a:t>
            </a:r>
            <a:r>
              <a:rPr lang="es-MX" sz="900" b="1" dirty="0"/>
              <a:t>ENE</a:t>
            </a:r>
            <a:r>
              <a:rPr sz="900" b="1" dirty="0"/>
              <a:t>/2024 - </a:t>
            </a:r>
            <a:r>
              <a:rPr sz="900" b="1" dirty="0" err="1"/>
              <a:t>Actualidad</a:t>
            </a:r>
            <a:r>
              <a:rPr sz="900" b="1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Desarrollo de backend serverless con </a:t>
            </a:r>
            <a:r>
              <a:rPr b="1" dirty="0"/>
              <a:t>Azure Functions</a:t>
            </a:r>
            <a:r>
              <a:rPr dirty="0"/>
              <a:t> para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conversacionales</a:t>
            </a:r>
            <a:r>
              <a:rPr dirty="0"/>
              <a:t> de IA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err="1"/>
              <a:t>Implementaci</a:t>
            </a:r>
            <a:r>
              <a:rPr lang="es-MX" dirty="0" err="1"/>
              <a:t>ó</a:t>
            </a:r>
            <a:r>
              <a:rPr dirty="0"/>
              <a:t>n de </a:t>
            </a:r>
            <a:r>
              <a:rPr lang="es-AR" b="1" dirty="0"/>
              <a:t>Deep </a:t>
            </a:r>
            <a:r>
              <a:rPr lang="es-AR" b="1" dirty="0" err="1"/>
              <a:t>Agents</a:t>
            </a:r>
            <a:r>
              <a:rPr lang="es-AR" b="1" dirty="0"/>
              <a:t> </a:t>
            </a:r>
            <a:r>
              <a:rPr dirty="0"/>
              <a:t>con </a:t>
            </a:r>
            <a:r>
              <a:rPr dirty="0" err="1"/>
              <a:t>LangChain</a:t>
            </a:r>
            <a:r>
              <a:rPr dirty="0"/>
              <a:t> para </a:t>
            </a:r>
            <a:r>
              <a:rPr dirty="0" err="1"/>
              <a:t>consultas</a:t>
            </a:r>
            <a:r>
              <a:rPr dirty="0"/>
              <a:t> en </a:t>
            </a:r>
            <a:r>
              <a:rPr dirty="0" err="1"/>
              <a:t>lenguaje</a:t>
            </a:r>
            <a:r>
              <a:rPr dirty="0"/>
              <a:t> natural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err="1"/>
              <a:t>Integraci</a:t>
            </a:r>
            <a:r>
              <a:rPr lang="es-MX" dirty="0" err="1"/>
              <a:t>ó</a:t>
            </a:r>
            <a:r>
              <a:rPr dirty="0"/>
              <a:t>n con </a:t>
            </a:r>
            <a:r>
              <a:rPr b="1" dirty="0"/>
              <a:t>Microsoft Fabric </a:t>
            </a:r>
            <a:r>
              <a:rPr dirty="0"/>
              <a:t>y </a:t>
            </a:r>
            <a:r>
              <a:rPr b="1" dirty="0"/>
              <a:t>Data Agent SDK </a:t>
            </a:r>
            <a:r>
              <a:rPr dirty="0"/>
              <a:t>para an</a:t>
            </a:r>
            <a:r>
              <a:rPr lang="es-MX" dirty="0"/>
              <a:t>á</a:t>
            </a:r>
            <a:r>
              <a:rPr dirty="0" err="1"/>
              <a:t>lisis</a:t>
            </a:r>
            <a:r>
              <a:rPr dirty="0"/>
              <a:t> de </a:t>
            </a:r>
            <a:r>
              <a:rPr dirty="0" err="1"/>
              <a:t>datos</a:t>
            </a:r>
            <a:endParaRPr dirty="0"/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err="1"/>
              <a:t>Gesti</a:t>
            </a:r>
            <a:r>
              <a:rPr lang="es-MX" dirty="0" err="1"/>
              <a:t>ó</a:t>
            </a:r>
            <a:r>
              <a:rPr dirty="0"/>
              <a:t>n de </a:t>
            </a:r>
            <a:r>
              <a:rPr dirty="0" err="1"/>
              <a:t>conversaciones</a:t>
            </a:r>
            <a:r>
              <a:rPr dirty="0"/>
              <a:t> con </a:t>
            </a:r>
            <a:r>
              <a:rPr b="1" dirty="0" err="1"/>
              <a:t>CosmosDB</a:t>
            </a:r>
            <a:r>
              <a:rPr dirty="0"/>
              <a:t> y </a:t>
            </a:r>
            <a:r>
              <a:rPr b="1" dirty="0" err="1"/>
              <a:t>arquitectura</a:t>
            </a:r>
            <a:r>
              <a:rPr b="1" dirty="0"/>
              <a:t> </a:t>
            </a:r>
            <a:r>
              <a:rPr b="1" dirty="0" err="1"/>
              <a:t>asincrona</a:t>
            </a:r>
            <a:endParaRPr b="1" dirty="0"/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Sistema de benchmarking </a:t>
            </a:r>
            <a:r>
              <a:rPr dirty="0"/>
              <a:t>para </a:t>
            </a:r>
            <a:r>
              <a:rPr dirty="0" err="1"/>
              <a:t>evaluaci</a:t>
            </a:r>
            <a:r>
              <a:rPr lang="es-MX" dirty="0" err="1"/>
              <a:t>ó</a:t>
            </a:r>
            <a:r>
              <a:rPr dirty="0"/>
              <a:t>n de queries SQL </a:t>
            </a:r>
            <a:r>
              <a:rPr dirty="0" err="1"/>
              <a:t>generadas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IA</a:t>
            </a:r>
          </a:p>
          <a:p>
            <a:pPr marL="628650" lvl="1" indent="-171450">
              <a:spcAft>
                <a:spcPts val="800"/>
              </a:spcAft>
              <a:buFont typeface="Arial" panose="020B0604020202020204" pitchFamily="34" charset="0"/>
              <a:buChar char="•"/>
              <a:defRPr sz="800"/>
            </a:pPr>
            <a:r>
              <a:rPr b="1" dirty="0"/>
              <a:t>Tech: </a:t>
            </a:r>
            <a:r>
              <a:rPr dirty="0"/>
              <a:t>Python, Azure Functions, </a:t>
            </a:r>
            <a:r>
              <a:rPr dirty="0" err="1"/>
              <a:t>LangChain</a:t>
            </a:r>
            <a:r>
              <a:rPr dirty="0"/>
              <a:t>, Azure OpenAI, </a:t>
            </a:r>
            <a:r>
              <a:rPr dirty="0" err="1"/>
              <a:t>CosmosDB</a:t>
            </a:r>
            <a:r>
              <a:rPr dirty="0"/>
              <a:t>, Microsoft Fabric</a:t>
            </a:r>
          </a:p>
          <a:p>
            <a:r>
              <a:rPr sz="900" b="1" dirty="0" err="1"/>
              <a:t>Procesamiento</a:t>
            </a:r>
            <a:r>
              <a:rPr sz="900" b="1" dirty="0"/>
              <a:t> </a:t>
            </a:r>
            <a:r>
              <a:rPr sz="900" b="1" dirty="0" err="1"/>
              <a:t>Automatizado</a:t>
            </a:r>
            <a:r>
              <a:rPr sz="900" b="1" dirty="0"/>
              <a:t> de </a:t>
            </a:r>
            <a:r>
              <a:rPr sz="900" b="1" dirty="0" err="1"/>
              <a:t>Documentos</a:t>
            </a:r>
            <a:r>
              <a:rPr sz="900" b="1" dirty="0"/>
              <a:t> (SEP/2024 - </a:t>
            </a:r>
            <a:r>
              <a:rPr sz="900" b="1" dirty="0" err="1"/>
              <a:t>Actualidad</a:t>
            </a:r>
            <a:r>
              <a:rPr sz="900" b="1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basada</a:t>
            </a:r>
            <a:r>
              <a:rPr dirty="0"/>
              <a:t> en </a:t>
            </a:r>
            <a:r>
              <a:rPr b="1" dirty="0" err="1"/>
              <a:t>LangGraph</a:t>
            </a:r>
            <a:r>
              <a:rPr dirty="0"/>
              <a:t> (</a:t>
            </a:r>
            <a:r>
              <a:rPr dirty="0" err="1"/>
              <a:t>grafo</a:t>
            </a:r>
            <a:r>
              <a:rPr dirty="0"/>
              <a:t> de </a:t>
            </a:r>
            <a:r>
              <a:rPr dirty="0" err="1"/>
              <a:t>estados</a:t>
            </a:r>
            <a:r>
              <a:rPr dirty="0"/>
              <a:t>) para </a:t>
            </a:r>
            <a:r>
              <a:rPr dirty="0" err="1"/>
              <a:t>procesamiento</a:t>
            </a:r>
            <a:r>
              <a:rPr dirty="0"/>
              <a:t> multi-</a:t>
            </a:r>
            <a:r>
              <a:rPr dirty="0" err="1"/>
              <a:t>etapa</a:t>
            </a:r>
            <a:endParaRPr dirty="0"/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err="1"/>
              <a:t>Procesamiento</a:t>
            </a:r>
            <a:r>
              <a:rPr dirty="0"/>
              <a:t> de 7+ </a:t>
            </a:r>
            <a:r>
              <a:rPr dirty="0" err="1"/>
              <a:t>categor</a:t>
            </a:r>
            <a:r>
              <a:rPr lang="es-MX" dirty="0"/>
              <a:t>í</a:t>
            </a:r>
            <a:r>
              <a:rPr dirty="0"/>
              <a:t>as de </a:t>
            </a:r>
            <a:r>
              <a:rPr dirty="0" err="1"/>
              <a:t>documentos</a:t>
            </a:r>
            <a:r>
              <a:rPr dirty="0"/>
              <a:t> con </a:t>
            </a:r>
            <a:r>
              <a:rPr dirty="0" err="1"/>
              <a:t>extracci</a:t>
            </a:r>
            <a:r>
              <a:rPr lang="es-MX" dirty="0" err="1"/>
              <a:t>ó</a:t>
            </a:r>
            <a:r>
              <a:rPr dirty="0"/>
              <a:t>n </a:t>
            </a:r>
            <a:r>
              <a:rPr dirty="0" err="1"/>
              <a:t>estructurada</a:t>
            </a:r>
            <a:r>
              <a:rPr dirty="0"/>
              <a:t> </a:t>
            </a:r>
            <a:r>
              <a:rPr dirty="0" err="1"/>
              <a:t>usando</a:t>
            </a:r>
            <a:r>
              <a:rPr dirty="0"/>
              <a:t> LLMs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err="1"/>
              <a:t>Implementaci</a:t>
            </a:r>
            <a:r>
              <a:rPr lang="es-MX" dirty="0" err="1"/>
              <a:t>ó</a:t>
            </a:r>
            <a:r>
              <a:rPr dirty="0"/>
              <a:t>n de </a:t>
            </a:r>
            <a:r>
              <a:rPr b="1" dirty="0"/>
              <a:t>few-shot learning</a:t>
            </a:r>
            <a:r>
              <a:rPr dirty="0"/>
              <a:t> para </a:t>
            </a:r>
            <a:r>
              <a:rPr dirty="0" err="1"/>
              <a:t>optimizar</a:t>
            </a:r>
            <a:r>
              <a:rPr dirty="0"/>
              <a:t> </a:t>
            </a:r>
            <a:r>
              <a:rPr dirty="0" err="1"/>
              <a:t>precisi</a:t>
            </a:r>
            <a:r>
              <a:rPr lang="es-MX" dirty="0" err="1"/>
              <a:t>ó</a:t>
            </a:r>
            <a:r>
              <a:rPr dirty="0"/>
              <a:t>n de </a:t>
            </a:r>
            <a:r>
              <a:rPr dirty="0" err="1"/>
              <a:t>extracci</a:t>
            </a:r>
            <a:r>
              <a:rPr lang="es-MX" dirty="0" err="1"/>
              <a:t>ó</a:t>
            </a:r>
            <a:r>
              <a:rPr dirty="0"/>
              <a:t>n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Pipeline de pre-</a:t>
            </a:r>
            <a:r>
              <a:rPr b="1" dirty="0" err="1"/>
              <a:t>procesamiento</a:t>
            </a:r>
            <a:r>
              <a:rPr b="1" dirty="0"/>
              <a:t>:</a:t>
            </a:r>
            <a:r>
              <a:rPr dirty="0"/>
              <a:t> 300 DPI, </a:t>
            </a:r>
            <a:r>
              <a:rPr dirty="0" err="1"/>
              <a:t>correcci</a:t>
            </a:r>
            <a:r>
              <a:rPr lang="es-MX" dirty="0" err="1"/>
              <a:t>ó</a:t>
            </a:r>
            <a:r>
              <a:rPr dirty="0"/>
              <a:t>n de </a:t>
            </a:r>
            <a:r>
              <a:rPr dirty="0" err="1"/>
              <a:t>inclinaci</a:t>
            </a:r>
            <a:r>
              <a:rPr lang="es-MX" dirty="0" err="1"/>
              <a:t>ó</a:t>
            </a:r>
            <a:r>
              <a:rPr dirty="0"/>
              <a:t>n, </a:t>
            </a:r>
            <a:r>
              <a:rPr dirty="0" err="1"/>
              <a:t>mejora</a:t>
            </a:r>
            <a:r>
              <a:rPr dirty="0"/>
              <a:t> de </a:t>
            </a:r>
            <a:r>
              <a:rPr dirty="0" err="1"/>
              <a:t>contraste</a:t>
            </a:r>
            <a:endParaRPr dirty="0"/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Sistema de </a:t>
            </a:r>
            <a:r>
              <a:rPr b="1" dirty="0" err="1"/>
              <a:t>validaci</a:t>
            </a:r>
            <a:r>
              <a:rPr lang="es-MX" b="1" dirty="0" err="1"/>
              <a:t>ó</a:t>
            </a:r>
            <a:r>
              <a:rPr b="1" dirty="0"/>
              <a:t>n </a:t>
            </a:r>
            <a:r>
              <a:rPr dirty="0"/>
              <a:t>robusta con </a:t>
            </a:r>
            <a:r>
              <a:rPr dirty="0" err="1"/>
              <a:t>Pydantic</a:t>
            </a:r>
            <a:r>
              <a:rPr dirty="0"/>
              <a:t> y </a:t>
            </a:r>
            <a:r>
              <a:rPr dirty="0" err="1"/>
              <a:t>validaci</a:t>
            </a:r>
            <a:r>
              <a:rPr lang="es-MX" dirty="0" err="1"/>
              <a:t>ó</a:t>
            </a:r>
            <a:r>
              <a:rPr dirty="0"/>
              <a:t>n </a:t>
            </a:r>
            <a:r>
              <a:rPr dirty="0" err="1"/>
              <a:t>algoritmica</a:t>
            </a:r>
            <a:endParaRPr dirty="0"/>
          </a:p>
          <a:p>
            <a:pPr marL="628650" lvl="1" indent="-171450">
              <a:spcAft>
                <a:spcPts val="800"/>
              </a:spcAft>
              <a:buFont typeface="Arial" panose="020B0604020202020204" pitchFamily="34" charset="0"/>
              <a:buChar char="•"/>
              <a:defRPr sz="800"/>
            </a:pPr>
            <a:r>
              <a:rPr b="1" dirty="0"/>
              <a:t>Tech: </a:t>
            </a:r>
            <a:r>
              <a:rPr dirty="0" err="1"/>
              <a:t>LangGraph</a:t>
            </a:r>
            <a:r>
              <a:rPr dirty="0"/>
              <a:t>, </a:t>
            </a:r>
            <a:r>
              <a:rPr dirty="0" err="1"/>
              <a:t>LangChain</a:t>
            </a:r>
            <a:r>
              <a:rPr dirty="0"/>
              <a:t>, Azure OpenAI, </a:t>
            </a:r>
            <a:r>
              <a:rPr dirty="0" err="1"/>
              <a:t>PyMuPDF</a:t>
            </a:r>
            <a:r>
              <a:rPr dirty="0"/>
              <a:t>, OpenCV, </a:t>
            </a:r>
            <a:r>
              <a:rPr dirty="0" err="1"/>
              <a:t>Pydantic</a:t>
            </a:r>
            <a:endParaRPr dirty="0"/>
          </a:p>
          <a:p>
            <a:r>
              <a:rPr sz="900" b="1" dirty="0" err="1"/>
              <a:t>Extraccion</a:t>
            </a:r>
            <a:r>
              <a:rPr sz="900" b="1" dirty="0"/>
              <a:t> de </a:t>
            </a:r>
            <a:r>
              <a:rPr sz="900" b="1" dirty="0" err="1"/>
              <a:t>Precios</a:t>
            </a:r>
            <a:r>
              <a:rPr sz="900" b="1" dirty="0"/>
              <a:t> con </a:t>
            </a:r>
            <a:r>
              <a:rPr lang="es-MX" sz="900" b="1"/>
              <a:t>tecnologías </a:t>
            </a:r>
            <a:r>
              <a:rPr lang="es-MX" sz="900" b="1" dirty="0"/>
              <a:t>de extracción</a:t>
            </a:r>
            <a:r>
              <a:rPr sz="900" b="1" dirty="0"/>
              <a:t>(JUL/2024</a:t>
            </a:r>
            <a:r>
              <a:rPr lang="es-MX" sz="900" b="1" dirty="0"/>
              <a:t> - Actualidad</a:t>
            </a:r>
            <a:r>
              <a:rPr sz="900" b="1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Sistema de Computer Vision</a:t>
            </a:r>
            <a:r>
              <a:rPr dirty="0"/>
              <a:t> para </a:t>
            </a:r>
            <a:r>
              <a:rPr dirty="0" err="1"/>
              <a:t>extracci</a:t>
            </a:r>
            <a:r>
              <a:rPr lang="es-MX" dirty="0" err="1"/>
              <a:t>ó</a:t>
            </a:r>
            <a:r>
              <a:rPr dirty="0"/>
              <a:t>n </a:t>
            </a:r>
            <a:r>
              <a:rPr dirty="0" err="1"/>
              <a:t>automatizada</a:t>
            </a:r>
            <a:r>
              <a:rPr dirty="0"/>
              <a:t> de </a:t>
            </a:r>
            <a:r>
              <a:rPr dirty="0" err="1"/>
              <a:t>precios</a:t>
            </a:r>
            <a:r>
              <a:rPr dirty="0"/>
              <a:t> de combustibles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lang="es-AR" b="1" dirty="0"/>
              <a:t>Implementación</a:t>
            </a:r>
            <a:r>
              <a:rPr b="1" dirty="0"/>
              <a:t> de YOLOv8</a:t>
            </a:r>
            <a:r>
              <a:rPr dirty="0"/>
              <a:t> para </a:t>
            </a:r>
            <a:r>
              <a:rPr dirty="0" err="1"/>
              <a:t>detecci</a:t>
            </a:r>
            <a:r>
              <a:rPr lang="es-MX" dirty="0" err="1"/>
              <a:t>ó</a:t>
            </a:r>
            <a:r>
              <a:rPr dirty="0"/>
              <a:t>n de </a:t>
            </a:r>
            <a:r>
              <a:rPr dirty="0" err="1"/>
              <a:t>objetos</a:t>
            </a:r>
            <a:r>
              <a:rPr dirty="0"/>
              <a:t> y OpenCV para </a:t>
            </a:r>
            <a:r>
              <a:rPr dirty="0" err="1"/>
              <a:t>procesamiento</a:t>
            </a:r>
            <a:endParaRPr dirty="0"/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err="1"/>
              <a:t>Integraci</a:t>
            </a:r>
            <a:r>
              <a:rPr lang="es-MX" dirty="0" err="1"/>
              <a:t>ó</a:t>
            </a:r>
            <a:r>
              <a:rPr dirty="0"/>
              <a:t>n con </a:t>
            </a:r>
            <a:r>
              <a:rPr b="1" dirty="0"/>
              <a:t>Azure Computer Vision y Document Intelligence para OCR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 err="1"/>
              <a:t>Arquitectura</a:t>
            </a:r>
            <a:r>
              <a:rPr b="1" dirty="0"/>
              <a:t> modular </a:t>
            </a:r>
            <a:r>
              <a:rPr dirty="0"/>
              <a:t>con </a:t>
            </a:r>
            <a:r>
              <a:rPr dirty="0" err="1"/>
              <a:t>evaluaci</a:t>
            </a:r>
            <a:r>
              <a:rPr lang="es-MX" dirty="0" err="1"/>
              <a:t>ó</a:t>
            </a:r>
            <a:r>
              <a:rPr dirty="0"/>
              <a:t>n de </a:t>
            </a:r>
            <a:r>
              <a:rPr dirty="0" err="1"/>
              <a:t>calidad</a:t>
            </a:r>
            <a:r>
              <a:rPr dirty="0"/>
              <a:t> de </a:t>
            </a:r>
            <a:r>
              <a:rPr dirty="0" err="1"/>
              <a:t>extraccion</a:t>
            </a:r>
            <a:endParaRPr dirty="0"/>
          </a:p>
          <a:p>
            <a:pPr marL="628650" lvl="1" indent="-171450">
              <a:spcAft>
                <a:spcPts val="800"/>
              </a:spcAft>
              <a:buFont typeface="Arial" panose="020B0604020202020204" pitchFamily="34" charset="0"/>
              <a:buChar char="•"/>
              <a:defRPr sz="800"/>
            </a:pPr>
            <a:r>
              <a:rPr b="1" dirty="0"/>
              <a:t>Tech:</a:t>
            </a:r>
            <a:r>
              <a:rPr dirty="0"/>
              <a:t> YOLOv8, OpenCV, Azure CV, Azure Document Intelligence, </a:t>
            </a:r>
            <a:r>
              <a:rPr dirty="0" err="1"/>
              <a:t>LangChain</a:t>
            </a:r>
            <a:endParaRPr dirty="0"/>
          </a:p>
          <a:p>
            <a:r>
              <a:rPr sz="900" b="1" dirty="0"/>
              <a:t>Feature Extraction (JUL/2024 - </a:t>
            </a:r>
            <a:r>
              <a:rPr sz="900" b="1" dirty="0" err="1"/>
              <a:t>Actualidad</a:t>
            </a:r>
            <a:r>
              <a:rPr sz="900" b="1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Pipeline ETL</a:t>
            </a:r>
            <a:r>
              <a:rPr dirty="0"/>
              <a:t> </a:t>
            </a:r>
            <a:r>
              <a:rPr dirty="0" err="1"/>
              <a:t>automatizado</a:t>
            </a:r>
            <a:r>
              <a:rPr dirty="0"/>
              <a:t> con Azure Functions (trigger </a:t>
            </a:r>
            <a:r>
              <a:rPr dirty="0" err="1"/>
              <a:t>cada</a:t>
            </a:r>
            <a:r>
              <a:rPr dirty="0"/>
              <a:t> 10 </a:t>
            </a:r>
            <a:r>
              <a:rPr dirty="0" err="1"/>
              <a:t>minutos</a:t>
            </a:r>
            <a:r>
              <a:rPr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 err="1"/>
              <a:t>Analisis</a:t>
            </a:r>
            <a:r>
              <a:rPr b="1" dirty="0"/>
              <a:t> de </a:t>
            </a:r>
            <a:r>
              <a:rPr b="1" dirty="0" err="1"/>
              <a:t>calidad</a:t>
            </a:r>
            <a:r>
              <a:rPr b="1" dirty="0"/>
              <a:t> </a:t>
            </a:r>
            <a:r>
              <a:rPr dirty="0"/>
              <a:t>de </a:t>
            </a:r>
            <a:r>
              <a:rPr dirty="0" err="1"/>
              <a:t>conversaciones</a:t>
            </a:r>
            <a:r>
              <a:rPr dirty="0"/>
              <a:t> </a:t>
            </a:r>
            <a:r>
              <a:rPr dirty="0" err="1"/>
              <a:t>usando</a:t>
            </a:r>
            <a:r>
              <a:rPr dirty="0"/>
              <a:t> LLMs (</a:t>
            </a:r>
            <a:r>
              <a:rPr dirty="0" err="1"/>
              <a:t>resolucion</a:t>
            </a:r>
            <a:r>
              <a:rPr dirty="0"/>
              <a:t>, </a:t>
            </a:r>
            <a:r>
              <a:rPr dirty="0" err="1"/>
              <a:t>notas</a:t>
            </a:r>
            <a:r>
              <a:rPr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 err="1"/>
              <a:t>Procesamiento</a:t>
            </a:r>
            <a:r>
              <a:rPr b="1" dirty="0"/>
              <a:t> batch </a:t>
            </a:r>
            <a:r>
              <a:rPr dirty="0"/>
              <a:t>de m</a:t>
            </a:r>
            <a:r>
              <a:rPr lang="es-MX" dirty="0"/>
              <a:t>ú</a:t>
            </a:r>
            <a:r>
              <a:rPr dirty="0" err="1"/>
              <a:t>ltiples</a:t>
            </a:r>
            <a:r>
              <a:rPr dirty="0"/>
              <a:t> </a:t>
            </a:r>
            <a:r>
              <a:rPr dirty="0" err="1"/>
              <a:t>aplicaciones</a:t>
            </a:r>
            <a:r>
              <a:rPr dirty="0"/>
              <a:t> (DEV/PROD)</a:t>
            </a:r>
          </a:p>
          <a:p>
            <a:pPr marL="628650" lvl="1" indent="-171450">
              <a:spcAft>
                <a:spcPts val="1000"/>
              </a:spcAft>
              <a:buFont typeface="Arial" panose="020B0604020202020204" pitchFamily="34" charset="0"/>
              <a:buChar char="•"/>
              <a:defRPr sz="800"/>
            </a:pPr>
            <a:r>
              <a:rPr b="1" dirty="0"/>
              <a:t>Tech: </a:t>
            </a:r>
            <a:r>
              <a:rPr dirty="0"/>
              <a:t>Azure Functions, OpenAI, pandas, </a:t>
            </a:r>
            <a:r>
              <a:rPr dirty="0" err="1"/>
              <a:t>SQLAlchemy</a:t>
            </a:r>
            <a:r>
              <a:rPr dirty="0"/>
              <a:t>, PostgreSQL, </a:t>
            </a:r>
            <a:r>
              <a:rPr dirty="0" err="1"/>
              <a:t>CosmosDB</a:t>
            </a:r>
            <a:endParaRPr lang="es-AR" dirty="0"/>
          </a:p>
          <a:p>
            <a:r>
              <a:rPr lang="es-AR" sz="900" b="1" dirty="0"/>
              <a:t>Proyectos Anteriores: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POC Galicia Speech: </a:t>
            </a:r>
            <a:r>
              <a:rPr dirty="0" err="1"/>
              <a:t>Preprocesamiento</a:t>
            </a:r>
            <a:r>
              <a:rPr dirty="0"/>
              <a:t> de audios, Speech-to-Text, </a:t>
            </a:r>
            <a:r>
              <a:rPr dirty="0" err="1"/>
              <a:t>construcci</a:t>
            </a:r>
            <a:r>
              <a:rPr lang="es-MX" dirty="0" err="1"/>
              <a:t>ó</a:t>
            </a:r>
            <a:r>
              <a:rPr dirty="0"/>
              <a:t>n de </a:t>
            </a:r>
            <a:r>
              <a:rPr dirty="0" err="1"/>
              <a:t>tableros</a:t>
            </a:r>
            <a:r>
              <a:rPr dirty="0"/>
              <a:t> BI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POC Ciudad Speech: </a:t>
            </a:r>
            <a:r>
              <a:rPr dirty="0" err="1"/>
              <a:t>Manejo</a:t>
            </a:r>
            <a:r>
              <a:rPr dirty="0"/>
              <a:t> de Azure, </a:t>
            </a:r>
            <a:r>
              <a:rPr dirty="0" err="1"/>
              <a:t>transcripciones</a:t>
            </a:r>
            <a:r>
              <a:rPr dirty="0"/>
              <a:t>, </a:t>
            </a:r>
            <a:r>
              <a:rPr dirty="0" err="1"/>
              <a:t>construcci</a:t>
            </a:r>
            <a:r>
              <a:rPr lang="es-MX" dirty="0" err="1"/>
              <a:t>ó</a:t>
            </a:r>
            <a:r>
              <a:rPr dirty="0"/>
              <a:t>n de </a:t>
            </a:r>
            <a:r>
              <a:rPr dirty="0" err="1"/>
              <a:t>tableros</a:t>
            </a:r>
            <a:r>
              <a:rPr dirty="0"/>
              <a:t> BI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 err="1"/>
              <a:t>Automatizacion</a:t>
            </a:r>
            <a:r>
              <a:rPr b="1" dirty="0"/>
              <a:t> </a:t>
            </a:r>
            <a:r>
              <a:rPr b="1" dirty="0" err="1"/>
              <a:t>Gecos</a:t>
            </a:r>
            <a:r>
              <a:rPr b="1" dirty="0"/>
              <a:t>: </a:t>
            </a:r>
            <a:r>
              <a:rPr dirty="0"/>
              <a:t>Python para ETL con pandas, Git/GitHub, Agile, Power BI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A62BC52B-8318-4EB5-8B91-50B06FD525ED}"/>
              </a:ext>
            </a:extLst>
          </p:cNvPr>
          <p:cNvSpPr txBox="1"/>
          <p:nvPr/>
        </p:nvSpPr>
        <p:spPr>
          <a:xfrm>
            <a:off x="2530402" y="9054305"/>
            <a:ext cx="3842160" cy="6617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 sz="1000" b="1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F O R M A C I O N   A D I C I O N A L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defRPr sz="900"/>
            </a:pPr>
            <a:r>
              <a:rPr dirty="0" err="1"/>
              <a:t>Curso</a:t>
            </a:r>
            <a:r>
              <a:rPr dirty="0"/>
              <a:t> </a:t>
            </a:r>
            <a:r>
              <a:rPr dirty="0" err="1"/>
              <a:t>interno</a:t>
            </a:r>
            <a:r>
              <a:rPr dirty="0"/>
              <a:t> de IA </a:t>
            </a:r>
            <a:r>
              <a:rPr dirty="0" err="1"/>
              <a:t>Generativa</a:t>
            </a:r>
            <a:r>
              <a:rPr dirty="0"/>
              <a:t> en NTT Data: Desarrollo de interfaces con </a:t>
            </a:r>
            <a:r>
              <a:rPr dirty="0" err="1"/>
              <a:t>Streamlit</a:t>
            </a:r>
            <a:r>
              <a:rPr dirty="0"/>
              <a:t>, </a:t>
            </a:r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LangChain</a:t>
            </a:r>
            <a:r>
              <a:rPr dirty="0"/>
              <a:t>, Transformers y Azure OpenAI para </a:t>
            </a:r>
            <a:r>
              <a:rPr dirty="0" err="1"/>
              <a:t>construcci</a:t>
            </a:r>
            <a:r>
              <a:rPr lang="es-MX" dirty="0" err="1"/>
              <a:t>ó</a:t>
            </a:r>
            <a:r>
              <a:rPr dirty="0"/>
              <a:t>n de chatbots y </a:t>
            </a:r>
            <a:r>
              <a:rPr dirty="0" err="1"/>
              <a:t>aplicaciones</a:t>
            </a:r>
            <a:r>
              <a:rPr dirty="0"/>
              <a:t> de IA.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ECB9482E-98AB-4426-BAC5-97961B28A5B1}"/>
              </a:ext>
            </a:extLst>
          </p:cNvPr>
          <p:cNvSpPr txBox="1"/>
          <p:nvPr/>
        </p:nvSpPr>
        <p:spPr>
          <a:xfrm>
            <a:off x="135160" y="4200871"/>
            <a:ext cx="2293737" cy="41088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1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defRPr sz="1000" b="1"/>
            </a:pPr>
            <a:r>
              <a:rPr dirty="0">
                <a:latin typeface="+mn-lt"/>
              </a:rPr>
              <a:t>T E C N O L O G I A S</a:t>
            </a:r>
            <a:endParaRPr lang="en-US" dirty="0">
              <a:latin typeface="+mn-lt"/>
            </a:endParaRPr>
          </a:p>
          <a:p>
            <a:pPr>
              <a:defRPr sz="900" b="1"/>
            </a:pPr>
            <a:r>
              <a:rPr dirty="0" err="1">
                <a:latin typeface="+mn-lt"/>
              </a:rPr>
              <a:t>Lenguajes</a:t>
            </a:r>
            <a:r>
              <a:rPr dirty="0">
                <a:latin typeface="+mn-lt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Python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SQL</a:t>
            </a:r>
            <a:r>
              <a:rPr dirty="0"/>
              <a:t> (T-SQL, PostgreSQL) - </a:t>
            </a:r>
            <a:r>
              <a:rPr dirty="0" err="1"/>
              <a:t>Intermedio</a:t>
            </a:r>
            <a:endParaRPr dirty="0"/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C++</a:t>
            </a:r>
            <a:r>
              <a:rPr dirty="0"/>
              <a:t> </a:t>
            </a:r>
            <a:r>
              <a:rPr b="1" dirty="0"/>
              <a:t>/ C#</a:t>
            </a:r>
            <a:r>
              <a:rPr dirty="0"/>
              <a:t> - B</a:t>
            </a:r>
            <a:r>
              <a:rPr lang="es-MX" dirty="0"/>
              <a:t>á</a:t>
            </a:r>
            <a:r>
              <a:rPr dirty="0" err="1"/>
              <a:t>sico</a:t>
            </a:r>
            <a:endParaRPr dirty="0"/>
          </a:p>
          <a:p>
            <a:pPr>
              <a:defRPr sz="900" b="1"/>
            </a:pPr>
            <a:r>
              <a:rPr dirty="0">
                <a:latin typeface="+mn-lt"/>
              </a:rPr>
              <a:t>IA y Machine Learning: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Azure OpenAI (GPT-4, GPT-5.1)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 err="1"/>
              <a:t>LangChain</a:t>
            </a:r>
            <a:r>
              <a:rPr b="1" dirty="0"/>
              <a:t> / </a:t>
            </a:r>
            <a:r>
              <a:rPr b="1" dirty="0" err="1"/>
              <a:t>LangGraph</a:t>
            </a:r>
            <a:r>
              <a:rPr b="1" dirty="0"/>
              <a:t> </a:t>
            </a:r>
            <a:r>
              <a:rPr dirty="0"/>
              <a:t>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Few-shot Learning</a:t>
            </a:r>
            <a:r>
              <a:rPr dirty="0"/>
              <a:t> - </a:t>
            </a:r>
            <a:r>
              <a:rPr dirty="0" err="1"/>
              <a:t>Intermedio</a:t>
            </a:r>
            <a:endParaRPr dirty="0"/>
          </a:p>
          <a:p>
            <a:pPr>
              <a:defRPr sz="900" b="1"/>
            </a:pPr>
            <a:r>
              <a:rPr dirty="0">
                <a:latin typeface="+mn-lt"/>
              </a:rPr>
              <a:t>Computer Vision: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YOLOv8</a:t>
            </a:r>
            <a:r>
              <a:rPr dirty="0"/>
              <a:t> - </a:t>
            </a:r>
            <a:r>
              <a:rPr dirty="0" err="1"/>
              <a:t>Intermedio</a:t>
            </a:r>
            <a:endParaRPr dirty="0"/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OpenCV</a:t>
            </a:r>
            <a:r>
              <a:rPr dirty="0"/>
              <a:t> - </a:t>
            </a:r>
            <a:r>
              <a:rPr dirty="0" err="1"/>
              <a:t>Intermedio</a:t>
            </a:r>
            <a:endParaRPr dirty="0"/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Azure Computer Vision</a:t>
            </a:r>
            <a:r>
              <a:rPr dirty="0"/>
              <a:t> - </a:t>
            </a:r>
            <a:r>
              <a:rPr dirty="0" err="1"/>
              <a:t>Intermedio</a:t>
            </a:r>
            <a:endParaRPr dirty="0"/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Azure Document Intelligence</a:t>
            </a:r>
            <a:r>
              <a:rPr dirty="0"/>
              <a:t> - </a:t>
            </a:r>
            <a:r>
              <a:rPr dirty="0" err="1"/>
              <a:t>Intermedio</a:t>
            </a:r>
            <a:endParaRPr dirty="0"/>
          </a:p>
          <a:p>
            <a:pPr>
              <a:defRPr sz="900" b="1"/>
            </a:pPr>
            <a:r>
              <a:rPr dirty="0">
                <a:latin typeface="+mn-lt"/>
              </a:rPr>
              <a:t>Cloud &amp; Serverless: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Azure Functions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 err="1"/>
              <a:t>CosmosDB</a:t>
            </a:r>
            <a:r>
              <a:rPr b="1" dirty="0"/>
              <a:t> </a:t>
            </a:r>
            <a:r>
              <a:rPr dirty="0"/>
              <a:t>- </a:t>
            </a:r>
            <a:r>
              <a:rPr dirty="0" err="1"/>
              <a:t>Intermedio</a:t>
            </a:r>
            <a:endParaRPr dirty="0"/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Azure Storage</a:t>
            </a:r>
            <a:r>
              <a:rPr dirty="0"/>
              <a:t> - </a:t>
            </a:r>
            <a:r>
              <a:rPr dirty="0" err="1"/>
              <a:t>Intermedio</a:t>
            </a:r>
            <a:endParaRPr dirty="0"/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Microsoft Fabric</a:t>
            </a:r>
            <a:r>
              <a:rPr dirty="0"/>
              <a:t> -</a:t>
            </a:r>
            <a:r>
              <a:rPr lang="es-MX" dirty="0"/>
              <a:t> Intermedio</a:t>
            </a:r>
            <a:endParaRPr dirty="0"/>
          </a:p>
          <a:p>
            <a:pPr>
              <a:defRPr sz="900" b="1"/>
            </a:pPr>
            <a:r>
              <a:rPr dirty="0">
                <a:latin typeface="+mn-lt"/>
              </a:rPr>
              <a:t>Bases de Datos: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PostgreSQL</a:t>
            </a:r>
            <a:r>
              <a:rPr dirty="0"/>
              <a:t> - </a:t>
            </a:r>
            <a:r>
              <a:rPr dirty="0" err="1"/>
              <a:t>Intermedio</a:t>
            </a:r>
            <a:endParaRPr dirty="0"/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SQL Server</a:t>
            </a:r>
            <a:r>
              <a:rPr dirty="0"/>
              <a:t> - </a:t>
            </a:r>
            <a:r>
              <a:rPr dirty="0" err="1"/>
              <a:t>Intermedio</a:t>
            </a:r>
            <a:endParaRPr dirty="0"/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 err="1"/>
              <a:t>SQLAlchemy</a:t>
            </a:r>
            <a:r>
              <a:rPr dirty="0"/>
              <a:t> - </a:t>
            </a:r>
            <a:r>
              <a:rPr dirty="0" err="1"/>
              <a:t>Intermedio</a:t>
            </a:r>
            <a:endParaRPr dirty="0"/>
          </a:p>
          <a:p>
            <a:pPr>
              <a:defRPr sz="900" b="1"/>
            </a:pPr>
            <a:r>
              <a:rPr dirty="0" err="1">
                <a:latin typeface="+mn-lt"/>
              </a:rPr>
              <a:t>Procesamiento</a:t>
            </a:r>
            <a:r>
              <a:rPr dirty="0">
                <a:latin typeface="+mn-lt"/>
              </a:rPr>
              <a:t> de Datos: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Pandas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Power BI</a:t>
            </a:r>
            <a:r>
              <a:rPr dirty="0"/>
              <a:t> - </a:t>
            </a:r>
            <a:r>
              <a:rPr dirty="0" err="1"/>
              <a:t>Intermedio</a:t>
            </a:r>
            <a:endParaRPr dirty="0"/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Data Factory</a:t>
            </a:r>
            <a:r>
              <a:rPr dirty="0"/>
              <a:t> - </a:t>
            </a:r>
            <a:r>
              <a:rPr dirty="0" err="1"/>
              <a:t>Intermedio</a:t>
            </a:r>
            <a:endParaRPr dirty="0"/>
          </a:p>
        </p:txBody>
      </p:sp>
      <p:pic>
        <p:nvPicPr>
          <p:cNvPr id="55" name="Imagen 54" descr="Icono&#10;&#10;Descripción generada automáticamente">
            <a:extLst>
              <a:ext uri="{FF2B5EF4-FFF2-40B4-BE49-F238E27FC236}">
                <a16:creationId xmlns:a16="http://schemas.microsoft.com/office/drawing/2014/main" id="{CEC22D7A-AAE2-488D-AE21-5CA289E3CA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214" y="9606542"/>
            <a:ext cx="663127" cy="97134"/>
          </a:xfrm>
          <a:prstGeom prst="rect">
            <a:avLst/>
          </a:prstGeom>
        </p:spPr>
      </p:pic>
      <p:pic>
        <p:nvPicPr>
          <p:cNvPr id="3" name="Imagen 2" descr="Un joven sonriendo con una playera de color gris&#10;&#10;Descripción generada automáticamente">
            <a:extLst>
              <a:ext uri="{FF2B5EF4-FFF2-40B4-BE49-F238E27FC236}">
                <a16:creationId xmlns:a16="http://schemas.microsoft.com/office/drawing/2014/main" id="{78E1DB5A-0DB5-EEFF-4249-F9E13187E3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76" y="-16299"/>
            <a:ext cx="1631777" cy="178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62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5b6bf4-e7fc-49d9-a3c4-fc281c2eba5e" xsi:nil="true"/>
    <lcf76f155ced4ddcb4097134ff3c332f xmlns="a171d43b-1da9-40e5-8a6a-d5444582029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DE84F1BF742943A8796A8F83C9E892" ma:contentTypeVersion="19" ma:contentTypeDescription="Create a new document." ma:contentTypeScope="" ma:versionID="f89c291f62d737057f482cc5994fc0cb">
  <xsd:schema xmlns:xsd="http://www.w3.org/2001/XMLSchema" xmlns:xs="http://www.w3.org/2001/XMLSchema" xmlns:p="http://schemas.microsoft.com/office/2006/metadata/properties" xmlns:ns2="a171d43b-1da9-40e5-8a6a-d54445820298" xmlns:ns3="3e5b6bf4-e7fc-49d9-a3c4-fc281c2eba5e" targetNamespace="http://schemas.microsoft.com/office/2006/metadata/properties" ma:root="true" ma:fieldsID="9c75a7e58030e97a634db40c9ab56ca5" ns2:_="" ns3:_="">
    <xsd:import namespace="a171d43b-1da9-40e5-8a6a-d54445820298"/>
    <xsd:import namespace="3e5b6bf4-e7fc-49d9-a3c4-fc281c2eba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71d43b-1da9-40e5-8a6a-d544458202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5b6bf4-e7fc-49d9-a3c4-fc281c2eba5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62a60b-dc94-4415-8ec5-a8b66f2b63df}" ma:internalName="TaxCatchAll" ma:showField="CatchAllData" ma:web="3e5b6bf4-e7fc-49d9-a3c4-fc281c2eba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0F21F4-F73D-4DEB-AA4F-7CA242B0B7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21AE28-E547-4E7D-8806-9AC73C75EA6C}">
  <ds:schemaRefs>
    <ds:schemaRef ds:uri="3e5b6bf4-e7fc-49d9-a3c4-fc281c2eba5e"/>
    <ds:schemaRef ds:uri="a171d43b-1da9-40e5-8a6a-d5444582029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4607A22-5219-4DA8-B2C7-CAE197D072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71d43b-1da9-40e5-8a6a-d54445820298"/>
    <ds:schemaRef ds:uri="3e5b6bf4-e7fc-49d9-a3c4-fc281c2eba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</TotalTime>
  <Words>788</Words>
  <Application>Microsoft Office PowerPoint</Application>
  <PresentationFormat>A4 (210 x 297 mm)</PresentationFormat>
  <Paragraphs>85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Cristian Benitez</dc:creator>
  <cp:lastModifiedBy>CARRIZO, JUAN PABLO (Servicio Externo en YPF)</cp:lastModifiedBy>
  <cp:revision>309</cp:revision>
  <dcterms:created xsi:type="dcterms:W3CDTF">2022-01-31T15:08:18Z</dcterms:created>
  <dcterms:modified xsi:type="dcterms:W3CDTF">2026-03-05T18:19:36Z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0x010100C2DE84F1BF742943A8796A8F83C9E892</vt:lpwstr>
  </property>
  <property fmtid="{D5CDD505-2E9C-101B-9397-08002B2CF9AE}" pid="3" name="MediaServiceImageTags">
    <vt:lpwstr/>
  </property>
  <property fmtid="{D5CDD505-2E9C-101B-9397-08002B2CF9AE}" pid="4" name="MSIP_Label_b701c5ec-e5b5-40ab-b632-dbf2eb8611fa_Enabled">
    <vt:lpwstr>true</vt:lpwstr>
  </property>
  <property fmtid="{D5CDD505-2E9C-101B-9397-08002B2CF9AE}" pid="5" name="MSIP_Label_b701c5ec-e5b5-40ab-b632-dbf2eb8611fa_SetDate">
    <vt:lpwstr>2026-01-02T00:14:20Z</vt:lpwstr>
  </property>
  <property fmtid="{D5CDD505-2E9C-101B-9397-08002B2CF9AE}" pid="6" name="MSIP_Label_b701c5ec-e5b5-40ab-b632-dbf2eb8611fa_Method">
    <vt:lpwstr>Privileged</vt:lpwstr>
  </property>
  <property fmtid="{D5CDD505-2E9C-101B-9397-08002B2CF9AE}" pid="7" name="MSIP_Label_b701c5ec-e5b5-40ab-b632-dbf2eb8611fa_Name">
    <vt:lpwstr>YPF - Privado</vt:lpwstr>
  </property>
  <property fmtid="{D5CDD505-2E9C-101B-9397-08002B2CF9AE}" pid="8" name="MSIP_Label_b701c5ec-e5b5-40ab-b632-dbf2eb8611fa_SiteId">
    <vt:lpwstr>038018c3-616c-4b46-ad9b-aa9007f701b5</vt:lpwstr>
  </property>
  <property fmtid="{D5CDD505-2E9C-101B-9397-08002B2CF9AE}" pid="9" name="MSIP_Label_b701c5ec-e5b5-40ab-b632-dbf2eb8611fa_ActionId">
    <vt:lpwstr>41a39c1d-452d-4065-bf3f-2596af9b3e70</vt:lpwstr>
  </property>
  <property fmtid="{D5CDD505-2E9C-101B-9397-08002B2CF9AE}" pid="10" name="MSIP_Label_b701c5ec-e5b5-40ab-b632-dbf2eb8611fa_ContentBits">
    <vt:lpwstr>3</vt:lpwstr>
  </property>
  <property fmtid="{D5CDD505-2E9C-101B-9397-08002B2CF9AE}" pid="11" name="MSIP_Label_b701c5ec-e5b5-40ab-b632-dbf2eb8611fa_Tag">
    <vt:lpwstr>10, 0, 1, 1</vt:lpwstr>
  </property>
  <property fmtid="{D5CDD505-2E9C-101B-9397-08002B2CF9AE}" pid="12" name="ClassificationContentMarkingFooterLocations">
    <vt:lpwstr>Tema de Office:10</vt:lpwstr>
  </property>
  <property fmtid="{D5CDD505-2E9C-101B-9397-08002B2CF9AE}" pid="13" name="ClassificationContentMarkingFooterText">
    <vt:lpwstr>Documento: YPF-Privado</vt:lpwstr>
  </property>
  <property fmtid="{D5CDD505-2E9C-101B-9397-08002B2CF9AE}" pid="14" name="ClassificationContentMarkingHeaderLocations">
    <vt:lpwstr>Tema de Office:9</vt:lpwstr>
  </property>
  <property fmtid="{D5CDD505-2E9C-101B-9397-08002B2CF9AE}" pid="15" name="ClassificationContentMarkingHeaderText">
    <vt:lpwstr>Documento: YPF-Privado</vt:lpwstr>
  </property>
</Properties>
</file>